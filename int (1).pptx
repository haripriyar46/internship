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76" r:id="rId2"/>
    <p:sldId id="323" r:id="rId3"/>
    <p:sldId id="327" r:id="rId4"/>
    <p:sldId id="348" r:id="rId5"/>
    <p:sldId id="328" r:id="rId6"/>
    <p:sldId id="329" r:id="rId7"/>
    <p:sldId id="330" r:id="rId8"/>
    <p:sldId id="353" r:id="rId9"/>
    <p:sldId id="366" r:id="rId10"/>
    <p:sldId id="352" r:id="rId11"/>
    <p:sldId id="343" r:id="rId12"/>
    <p:sldId id="349" r:id="rId13"/>
    <p:sldId id="354" r:id="rId14"/>
    <p:sldId id="357" r:id="rId15"/>
    <p:sldId id="356" r:id="rId16"/>
    <p:sldId id="355" r:id="rId17"/>
    <p:sldId id="358" r:id="rId18"/>
    <p:sldId id="359" r:id="rId19"/>
    <p:sldId id="362" r:id="rId20"/>
    <p:sldId id="363" r:id="rId21"/>
    <p:sldId id="365" r:id="rId22"/>
    <p:sldId id="332" r:id="rId23"/>
    <p:sldId id="333" r:id="rId24"/>
    <p:sldId id="326" r:id="rId25"/>
    <p:sldId id="32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22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173FB-BAEC-4C3E-B785-3083756740F7}" v="57" dt="2025-05-05T13:01:20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2680" autoAdjust="0"/>
  </p:normalViewPr>
  <p:slideViewPr>
    <p:cSldViewPr snapToGrid="0">
      <p:cViewPr>
        <p:scale>
          <a:sx n="125" d="100"/>
          <a:sy n="125" d="100"/>
        </p:scale>
        <p:origin x="72" y="-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00" d="100"/>
        <a:sy n="100" d="100"/>
      </p:scale>
      <p:origin x="0" y="9654"/>
    </p:cViewPr>
  </p:sorterViewPr>
  <p:notesViewPr>
    <p:cSldViewPr snapToGrid="0"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DD4F5-E787-4A03-8F5D-6B245254BF7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83123-3168-4961-ACB7-993B17840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71045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104870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7ACED-ACB1-48A9-974A-A27443713AA9}" type="datetimeFigureOut">
              <a:rPr lang="en-IN" smtClean="0"/>
              <a:t>05-05-2025</a:t>
            </a:fld>
            <a:endParaRPr lang="en-IN" dirty="0"/>
          </a:p>
        </p:txBody>
      </p:sp>
      <p:sp>
        <p:nvSpPr>
          <p:cNvPr id="104870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104870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5B207-33DB-4EA7-B4D4-60AF7CFC364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23587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10486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5B207-33DB-4EA7-B4D4-60AF7CFC3649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3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5B207-33DB-4EA7-B4D4-60AF7CFC3649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801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5B207-33DB-4EA7-B4D4-60AF7CFC3649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91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bk object 16"/>
          <p:cNvSpPr/>
          <p:nvPr/>
        </p:nvSpPr>
        <p:spPr>
          <a:xfrm>
            <a:off x="11139659" y="5654898"/>
            <a:ext cx="951937" cy="712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85" name="bk object 17"/>
          <p:cNvSpPr/>
          <p:nvPr/>
        </p:nvSpPr>
        <p:spPr>
          <a:xfrm>
            <a:off x="1" y="1"/>
            <a:ext cx="12186962" cy="637983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86" name="Holder 2"/>
          <p:cNvSpPr>
            <a:spLocks noGrp="1"/>
          </p:cNvSpPr>
          <p:nvPr>
            <p:ph type="ctrTitle"/>
          </p:nvPr>
        </p:nvSpPr>
        <p:spPr>
          <a:xfrm>
            <a:off x="252033" y="90295"/>
            <a:ext cx="1168792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/>
              <a:t>Click to edit Master subtitle style</a:t>
            </a:r>
          </a:p>
        </p:txBody>
      </p:sp>
      <p:sp>
        <p:nvSpPr>
          <p:cNvPr id="1048688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689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ADF84F4A-A625-4841-A560-36858683A918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690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bk object 16"/>
          <p:cNvSpPr/>
          <p:nvPr/>
        </p:nvSpPr>
        <p:spPr>
          <a:xfrm>
            <a:off x="11139659" y="5654898"/>
            <a:ext cx="951937" cy="712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583" name="bk object 17"/>
          <p:cNvSpPr/>
          <p:nvPr/>
        </p:nvSpPr>
        <p:spPr>
          <a:xfrm>
            <a:off x="1" y="1"/>
            <a:ext cx="12186962" cy="637983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584" name="Holder 2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26912"/>
          </a:xfrm>
        </p:spPr>
        <p:txBody>
          <a:bodyPr lIns="0" tIns="0" rIns="0" bIns="0"/>
          <a:lstStyle>
            <a:lvl1pPr>
              <a:defRPr sz="2774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5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8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58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58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26912"/>
          </a:xfrm>
        </p:spPr>
        <p:txBody>
          <a:bodyPr lIns="0" tIns="0" rIns="0" bIns="0"/>
          <a:lstStyle>
            <a:lvl1pPr>
              <a:defRPr sz="2774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2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695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EEFABC84-42C6-4CEA-A684-359F73F01B3A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696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bk object 16"/>
          <p:cNvSpPr/>
          <p:nvPr/>
        </p:nvSpPr>
        <p:spPr>
          <a:xfrm>
            <a:off x="11139659" y="5654898"/>
            <a:ext cx="951937" cy="712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98" name="bk object 17"/>
          <p:cNvSpPr/>
          <p:nvPr/>
        </p:nvSpPr>
        <p:spPr>
          <a:xfrm>
            <a:off x="1" y="1"/>
            <a:ext cx="12186962" cy="637983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99" name="Holder 2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26912"/>
          </a:xfrm>
        </p:spPr>
        <p:txBody>
          <a:bodyPr lIns="0" tIns="0" rIns="0" bIns="0"/>
          <a:lstStyle>
            <a:lvl1pPr>
              <a:defRPr sz="2774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00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701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B87CD348-35EE-4AE6-BDD5-627B6F5C4DDF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702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704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6FD4187E-BA59-4E8C-BCC5-6102CD433D30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705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k object 16"/>
          <p:cNvSpPr/>
          <p:nvPr/>
        </p:nvSpPr>
        <p:spPr>
          <a:xfrm>
            <a:off x="11139659" y="5654898"/>
            <a:ext cx="951937" cy="7123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332812" y="1839829"/>
            <a:ext cx="115263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9629662" y="6601380"/>
            <a:ext cx="1309884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678418" y="6601380"/>
            <a:ext cx="2817931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5DC9A7FA-B7F9-43C0-AE96-BC5F2D4AACA9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11295180" y="6601380"/>
            <a:ext cx="715398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hdr="0" ftr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906033" eaLnBrk="1" hangingPunct="1">
        <a:defRPr>
          <a:latin typeface="+mn-lt"/>
          <a:ea typeface="+mn-ea"/>
          <a:cs typeface="+mn-cs"/>
        </a:defRPr>
      </a:lvl2pPr>
      <a:lvl3pPr marL="1812066" eaLnBrk="1" hangingPunct="1">
        <a:defRPr>
          <a:latin typeface="+mn-lt"/>
          <a:ea typeface="+mn-ea"/>
          <a:cs typeface="+mn-cs"/>
        </a:defRPr>
      </a:lvl3pPr>
      <a:lvl4pPr marL="2718100" eaLnBrk="1" hangingPunct="1">
        <a:defRPr>
          <a:latin typeface="+mn-lt"/>
          <a:ea typeface="+mn-ea"/>
          <a:cs typeface="+mn-cs"/>
        </a:defRPr>
      </a:lvl4pPr>
      <a:lvl5pPr marL="3624133" eaLnBrk="1" hangingPunct="1">
        <a:defRPr>
          <a:latin typeface="+mn-lt"/>
          <a:ea typeface="+mn-ea"/>
          <a:cs typeface="+mn-cs"/>
        </a:defRPr>
      </a:lvl5pPr>
      <a:lvl6pPr marL="4530166" eaLnBrk="1" hangingPunct="1">
        <a:defRPr>
          <a:latin typeface="+mn-lt"/>
          <a:ea typeface="+mn-ea"/>
          <a:cs typeface="+mn-cs"/>
        </a:defRPr>
      </a:lvl6pPr>
      <a:lvl7pPr marL="5436199" eaLnBrk="1" hangingPunct="1">
        <a:defRPr>
          <a:latin typeface="+mn-lt"/>
          <a:ea typeface="+mn-ea"/>
          <a:cs typeface="+mn-cs"/>
        </a:defRPr>
      </a:lvl7pPr>
      <a:lvl8pPr marL="6342233" eaLnBrk="1" hangingPunct="1">
        <a:defRPr>
          <a:latin typeface="+mn-lt"/>
          <a:ea typeface="+mn-ea"/>
          <a:cs typeface="+mn-cs"/>
        </a:defRPr>
      </a:lvl8pPr>
      <a:lvl9pPr marL="724826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906033" eaLnBrk="1" hangingPunct="1">
        <a:defRPr>
          <a:latin typeface="+mn-lt"/>
          <a:ea typeface="+mn-ea"/>
          <a:cs typeface="+mn-cs"/>
        </a:defRPr>
      </a:lvl2pPr>
      <a:lvl3pPr marL="1812066" eaLnBrk="1" hangingPunct="1">
        <a:defRPr>
          <a:latin typeface="+mn-lt"/>
          <a:ea typeface="+mn-ea"/>
          <a:cs typeface="+mn-cs"/>
        </a:defRPr>
      </a:lvl3pPr>
      <a:lvl4pPr marL="2718100" eaLnBrk="1" hangingPunct="1">
        <a:defRPr>
          <a:latin typeface="+mn-lt"/>
          <a:ea typeface="+mn-ea"/>
          <a:cs typeface="+mn-cs"/>
        </a:defRPr>
      </a:lvl4pPr>
      <a:lvl5pPr marL="3624133" eaLnBrk="1" hangingPunct="1">
        <a:defRPr>
          <a:latin typeface="+mn-lt"/>
          <a:ea typeface="+mn-ea"/>
          <a:cs typeface="+mn-cs"/>
        </a:defRPr>
      </a:lvl5pPr>
      <a:lvl6pPr marL="4530166" eaLnBrk="1" hangingPunct="1">
        <a:defRPr>
          <a:latin typeface="+mn-lt"/>
          <a:ea typeface="+mn-ea"/>
          <a:cs typeface="+mn-cs"/>
        </a:defRPr>
      </a:lvl6pPr>
      <a:lvl7pPr marL="5436199" eaLnBrk="1" hangingPunct="1">
        <a:defRPr>
          <a:latin typeface="+mn-lt"/>
          <a:ea typeface="+mn-ea"/>
          <a:cs typeface="+mn-cs"/>
        </a:defRPr>
      </a:lvl7pPr>
      <a:lvl8pPr marL="6342233" eaLnBrk="1" hangingPunct="1">
        <a:defRPr>
          <a:latin typeface="+mn-lt"/>
          <a:ea typeface="+mn-ea"/>
          <a:cs typeface="+mn-cs"/>
        </a:defRPr>
      </a:lvl8pPr>
      <a:lvl9pPr marL="7248266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object 2"/>
          <p:cNvSpPr/>
          <p:nvPr/>
        </p:nvSpPr>
        <p:spPr>
          <a:xfrm>
            <a:off x="1702071" y="391220"/>
            <a:ext cx="8784532" cy="163585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02" name="object 3"/>
          <p:cNvSpPr/>
          <p:nvPr/>
        </p:nvSpPr>
        <p:spPr>
          <a:xfrm>
            <a:off x="1802741" y="1055628"/>
            <a:ext cx="201334" cy="2013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04" name="object 6"/>
          <p:cNvSpPr/>
          <p:nvPr/>
        </p:nvSpPr>
        <p:spPr>
          <a:xfrm>
            <a:off x="1472078" y="93503"/>
            <a:ext cx="8683131" cy="847581"/>
          </a:xfrm>
          <a:custGeom>
            <a:avLst/>
            <a:gdLst/>
            <a:ahLst/>
            <a:cxnLst/>
            <a:rect l="l" t="t" r="r" b="b"/>
            <a:pathLst>
              <a:path w="4432935" h="342265">
                <a:moveTo>
                  <a:pt x="4432567" y="0"/>
                </a:moveTo>
                <a:lnTo>
                  <a:pt x="0" y="0"/>
                </a:lnTo>
                <a:lnTo>
                  <a:pt x="0" y="290856"/>
                </a:lnTo>
                <a:lnTo>
                  <a:pt x="4008" y="310581"/>
                </a:lnTo>
                <a:lnTo>
                  <a:pt x="14922" y="326734"/>
                </a:lnTo>
                <a:lnTo>
                  <a:pt x="31075" y="337648"/>
                </a:lnTo>
                <a:lnTo>
                  <a:pt x="50800" y="341657"/>
                </a:lnTo>
                <a:lnTo>
                  <a:pt x="4381767" y="341657"/>
                </a:lnTo>
                <a:lnTo>
                  <a:pt x="4401492" y="337648"/>
                </a:lnTo>
                <a:lnTo>
                  <a:pt x="4417644" y="326734"/>
                </a:lnTo>
                <a:lnTo>
                  <a:pt x="4428558" y="310581"/>
                </a:lnTo>
                <a:lnTo>
                  <a:pt x="4432567" y="290856"/>
                </a:lnTo>
                <a:lnTo>
                  <a:pt x="44325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sz="3567" dirty="0"/>
          </a:p>
        </p:txBody>
      </p:sp>
      <p:sp>
        <p:nvSpPr>
          <p:cNvPr id="1048609" name="object 11"/>
          <p:cNvSpPr txBox="1">
            <a:spLocks noGrp="1"/>
          </p:cNvSpPr>
          <p:nvPr>
            <p:ph type="title"/>
          </p:nvPr>
        </p:nvSpPr>
        <p:spPr>
          <a:xfrm>
            <a:off x="2036791" y="294212"/>
            <a:ext cx="7972155" cy="52674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/>
            <a:r>
              <a:rPr lang="en-US" sz="3200" b="1" spc="20" dirty="0">
                <a:ln w="9525">
                  <a:solidFill>
                    <a:schemeClr val="bg1"/>
                  </a:solidFill>
                  <a:prstDash val="solid"/>
                </a:ln>
                <a:latin typeface="Times New Roman" pitchFamily="18" charset="0"/>
                <a:cs typeface="Times New Roman" pitchFamily="18" charset="0"/>
              </a:rPr>
              <a:t>INTERNSHIP  PRESENTATION</a:t>
            </a:r>
            <a:endParaRPr sz="3200" b="1" spc="2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1" name="object 12"/>
          <p:cNvSpPr txBox="1"/>
          <p:nvPr/>
        </p:nvSpPr>
        <p:spPr>
          <a:xfrm>
            <a:off x="4075957" y="1065008"/>
            <a:ext cx="3945826" cy="1803984"/>
          </a:xfrm>
          <a:prstGeom prst="rect">
            <a:avLst/>
          </a:prstGeom>
        </p:spPr>
        <p:txBody>
          <a:bodyPr vert="horz" wrap="square" lIns="0" tIns="17617" rIns="0" bIns="0" rtlCol="0">
            <a:spAutoFit/>
          </a:bodyPr>
          <a:lstStyle/>
          <a:p>
            <a:pPr marL="25168" marR="10067" indent="751253">
              <a:lnSpc>
                <a:spcPct val="101299"/>
              </a:lnSpc>
              <a:spcBef>
                <a:spcPts val="139"/>
              </a:spcBef>
              <a:tabLst>
                <a:tab pos="1984462" algn="l"/>
              </a:tabLst>
            </a:pPr>
            <a:r>
              <a:rPr lang="en-US" sz="2081" spc="-1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marL="25168" marR="10067" indent="751253">
              <a:lnSpc>
                <a:spcPct val="101299"/>
              </a:lnSpc>
              <a:spcBef>
                <a:spcPts val="139"/>
              </a:spcBef>
              <a:tabLst>
                <a:tab pos="1984462" algn="l"/>
              </a:tabLst>
            </a:pPr>
            <a:r>
              <a:rPr lang="en-IN" sz="2400" spc="-1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Carried out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by</a:t>
            </a:r>
            <a:endParaRPr lang="en-IN" sz="2400" spc="-40" dirty="0">
              <a:latin typeface="Times New Roman" pitchFamily="18" charset="0"/>
              <a:cs typeface="Times New Roman" pitchFamily="18" charset="0"/>
            </a:endParaRPr>
          </a:p>
          <a:p>
            <a:pPr marL="25168" marR="10067" indent="751253">
              <a:lnSpc>
                <a:spcPct val="101299"/>
              </a:lnSpc>
              <a:spcBef>
                <a:spcPts val="139"/>
              </a:spcBef>
              <a:tabLst>
                <a:tab pos="1984462" algn="l"/>
              </a:tabLst>
            </a:pPr>
            <a:r>
              <a:rPr lang="en-IN" sz="2200" b="1" spc="-40" dirty="0">
                <a:latin typeface="Times New Roman" pitchFamily="18" charset="0"/>
                <a:cs typeface="Times New Roman" pitchFamily="18" charset="0"/>
              </a:rPr>
              <a:t>    HARIPRIYA R</a:t>
            </a:r>
            <a:r>
              <a:rPr sz="2200" b="1" spc="-4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200" b="1" spc="-40" dirty="0">
              <a:latin typeface="Times New Roman" pitchFamily="18" charset="0"/>
              <a:cs typeface="Times New Roman" pitchFamily="18" charset="0"/>
            </a:endParaRPr>
          </a:p>
          <a:p>
            <a:pPr marL="25168" marR="10067" indent="751253">
              <a:lnSpc>
                <a:spcPct val="101299"/>
              </a:lnSpc>
              <a:spcBef>
                <a:spcPts val="139"/>
              </a:spcBef>
              <a:tabLst>
                <a:tab pos="1984462" algn="l"/>
              </a:tabLst>
            </a:pPr>
            <a:r>
              <a:rPr lang="en-US" sz="2081" spc="-4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81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81" spc="-40" dirty="0">
                <a:latin typeface="Times New Roman" pitchFamily="18" charset="0"/>
                <a:cs typeface="Times New Roman" pitchFamily="18" charset="0"/>
              </a:rPr>
              <a:t>4VV21EC046 </a:t>
            </a:r>
            <a:r>
              <a:rPr lang="en-US" sz="2081" b="1" spc="-40" dirty="0"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IN" sz="2200" b="1" spc="-2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5168" marR="10067" indent="751253">
              <a:lnSpc>
                <a:spcPct val="101299"/>
              </a:lnSpc>
              <a:spcBef>
                <a:spcPts val="139"/>
              </a:spcBef>
              <a:tabLst>
                <a:tab pos="1984462" algn="l"/>
              </a:tabLst>
            </a:pPr>
            <a:r>
              <a:rPr lang="en-US" sz="2081" spc="-20" dirty="0">
                <a:latin typeface="Century Gothic" pitchFamily="34" charset="0"/>
                <a:cs typeface="Times New Roman" pitchFamily="18" charset="0"/>
              </a:rPr>
              <a:t> </a:t>
            </a:r>
            <a:endParaRPr sz="208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2" name="object 13"/>
          <p:cNvSpPr txBox="1"/>
          <p:nvPr/>
        </p:nvSpPr>
        <p:spPr>
          <a:xfrm>
            <a:off x="957256" y="3402768"/>
            <a:ext cx="3441193" cy="137588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426591" marR="10067" indent="-402681" algn="ctr">
              <a:spcBef>
                <a:spcPts val="109"/>
              </a:spcBef>
            </a:pP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Internal Guide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26591" marR="10067" indent="-402681" algn="ctr">
              <a:spcBef>
                <a:spcPts val="109"/>
              </a:spcBef>
            </a:pPr>
            <a:r>
              <a:rPr lang="en-IN" sz="2200" b="1" spc="-10" dirty="0" err="1">
                <a:latin typeface="Times New Roman" pitchFamily="18" charset="0"/>
                <a:cs typeface="Times New Roman" pitchFamily="18" charset="0"/>
              </a:rPr>
              <a:t>Dr.Chaithanya</a:t>
            </a:r>
            <a:r>
              <a:rPr lang="en-IN" sz="2200" b="1" spc="-10" dirty="0">
                <a:latin typeface="Times New Roman" pitchFamily="18" charset="0"/>
                <a:cs typeface="Times New Roman" pitchFamily="18" charset="0"/>
              </a:rPr>
              <a:t> DJ </a:t>
            </a:r>
          </a:p>
          <a:p>
            <a:pPr marL="426591" marR="10067" indent="-402681" algn="ctr">
              <a:spcBef>
                <a:spcPts val="109"/>
              </a:spcBef>
            </a:pPr>
            <a:r>
              <a:rPr lang="en-IN" sz="2000" spc="-10" dirty="0">
                <a:latin typeface="Times New Roman" pitchFamily="18" charset="0"/>
                <a:cs typeface="Times New Roman" pitchFamily="18" charset="0"/>
              </a:rPr>
              <a:t>Assistant Professor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IN" sz="2000" spc="-10" dirty="0">
              <a:latin typeface="Times New Roman" pitchFamily="18" charset="0"/>
              <a:cs typeface="Times New Roman" pitchFamily="18" charset="0"/>
            </a:endParaRPr>
          </a:p>
          <a:p>
            <a:pPr marL="426591" marR="10067" indent="-402681" algn="ctr">
              <a:spcBef>
                <a:spcPts val="109"/>
              </a:spcBef>
            </a:pPr>
            <a:r>
              <a:rPr sz="2000" spc="-10" dirty="0">
                <a:latin typeface="Times New Roman" pitchFamily="18" charset="0"/>
                <a:cs typeface="Times New Roman" pitchFamily="18" charset="0"/>
              </a:rPr>
              <a:t>Dept. of</a:t>
            </a:r>
            <a:r>
              <a:rPr sz="2000" spc="6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ECE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4" name="object 16"/>
          <p:cNvSpPr txBox="1"/>
          <p:nvPr/>
        </p:nvSpPr>
        <p:spPr>
          <a:xfrm>
            <a:off x="1137263" y="5536544"/>
            <a:ext cx="9631809" cy="702544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algn="ctr">
              <a:lnSpc>
                <a:spcPts val="2546"/>
              </a:lnSpc>
              <a:spcBef>
                <a:spcPts val="178"/>
              </a:spcBef>
            </a:pPr>
            <a:r>
              <a:rPr lang="en-US" sz="2800" b="1" spc="-10" dirty="0">
                <a:latin typeface="Times New Roman" pitchFamily="18" charset="0"/>
                <a:cs typeface="Times New Roman" pitchFamily="18" charset="0"/>
              </a:rPr>
              <a:t>Department of </a:t>
            </a:r>
            <a:r>
              <a:rPr lang="en-US" sz="2800" b="1" spc="-20" dirty="0">
                <a:latin typeface="Times New Roman" pitchFamily="18" charset="0"/>
                <a:cs typeface="Times New Roman" pitchFamily="18" charset="0"/>
              </a:rPr>
              <a:t>Electronics and Communication</a:t>
            </a:r>
            <a:r>
              <a:rPr lang="en-US" sz="28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spc="-10" dirty="0">
                <a:latin typeface="Times New Roman" pitchFamily="18" charset="0"/>
                <a:cs typeface="Times New Roman" pitchFamily="18" charset="0"/>
              </a:rPr>
              <a:t>Engineering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ts val="2784"/>
              </a:lnSpc>
            </a:pPr>
            <a:r>
              <a:rPr lang="en-US" sz="2800" b="1" spc="-30" dirty="0">
                <a:latin typeface="Times New Roman" pitchFamily="18" charset="0"/>
                <a:cs typeface="Times New Roman" pitchFamily="18" charset="0"/>
              </a:rPr>
              <a:t>Vidyavardhaka </a:t>
            </a:r>
            <a:r>
              <a:rPr lang="en-US" sz="2800" b="1" spc="-10" dirty="0">
                <a:latin typeface="Times New Roman" pitchFamily="18" charset="0"/>
                <a:cs typeface="Times New Roman" pitchFamily="18" charset="0"/>
              </a:rPr>
              <a:t>College of Engineering,</a:t>
            </a:r>
            <a:r>
              <a:rPr lang="en-US" sz="28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spc="-10" dirty="0">
                <a:latin typeface="Times New Roman" pitchFamily="18" charset="0"/>
                <a:cs typeface="Times New Roman" pitchFamily="18" charset="0"/>
              </a:rPr>
              <a:t>Mysuru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5" name="object 17"/>
          <p:cNvSpPr/>
          <p:nvPr/>
        </p:nvSpPr>
        <p:spPr>
          <a:xfrm>
            <a:off x="1702070" y="6580175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2"/>
                </a:moveTo>
                <a:lnTo>
                  <a:pt x="1535976" y="129032"/>
                </a:lnTo>
                <a:lnTo>
                  <a:pt x="1535976" y="0"/>
                </a:lnTo>
                <a:lnTo>
                  <a:pt x="0" y="0"/>
                </a:lnTo>
                <a:lnTo>
                  <a:pt x="0" y="12903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6" name="object 18"/>
          <p:cNvSpPr/>
          <p:nvPr/>
        </p:nvSpPr>
        <p:spPr>
          <a:xfrm>
            <a:off x="4745839" y="6580175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7" name="object 19"/>
          <p:cNvSpPr/>
          <p:nvPr/>
        </p:nvSpPr>
        <p:spPr>
          <a:xfrm>
            <a:off x="7775094" y="6580175"/>
            <a:ext cx="3043945" cy="275495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marL="25168" algn="ctr">
              <a:spcBef>
                <a:spcPts val="139"/>
              </a:spcBef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2024-25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object 17"/>
          <p:cNvSpPr/>
          <p:nvPr/>
        </p:nvSpPr>
        <p:spPr>
          <a:xfrm>
            <a:off x="1702070" y="6598969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2"/>
                </a:moveTo>
                <a:lnTo>
                  <a:pt x="1535976" y="129032"/>
                </a:lnTo>
                <a:lnTo>
                  <a:pt x="1535976" y="0"/>
                </a:lnTo>
                <a:lnTo>
                  <a:pt x="0" y="0"/>
                </a:lnTo>
                <a:lnTo>
                  <a:pt x="0" y="12903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9" name="object 18"/>
          <p:cNvSpPr/>
          <p:nvPr/>
        </p:nvSpPr>
        <p:spPr>
          <a:xfrm>
            <a:off x="4745839" y="6598969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object 17"/>
          <p:cNvSpPr/>
          <p:nvPr/>
        </p:nvSpPr>
        <p:spPr>
          <a:xfrm>
            <a:off x="1702070" y="6580175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2"/>
                </a:moveTo>
                <a:lnTo>
                  <a:pt x="1535976" y="129032"/>
                </a:lnTo>
                <a:lnTo>
                  <a:pt x="1535976" y="0"/>
                </a:lnTo>
                <a:lnTo>
                  <a:pt x="0" y="0"/>
                </a:lnTo>
                <a:lnTo>
                  <a:pt x="0" y="12903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object 18"/>
          <p:cNvSpPr/>
          <p:nvPr/>
        </p:nvSpPr>
        <p:spPr>
          <a:xfrm>
            <a:off x="4745839" y="6580175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4" name="object 17"/>
          <p:cNvSpPr/>
          <p:nvPr/>
        </p:nvSpPr>
        <p:spPr>
          <a:xfrm>
            <a:off x="1702070" y="6598969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2"/>
                </a:moveTo>
                <a:lnTo>
                  <a:pt x="1535976" y="129032"/>
                </a:lnTo>
                <a:lnTo>
                  <a:pt x="1535976" y="0"/>
                </a:lnTo>
                <a:lnTo>
                  <a:pt x="0" y="0"/>
                </a:lnTo>
                <a:lnTo>
                  <a:pt x="0" y="12903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object 18"/>
          <p:cNvSpPr/>
          <p:nvPr/>
        </p:nvSpPr>
        <p:spPr>
          <a:xfrm>
            <a:off x="4745839" y="6598969"/>
            <a:ext cx="3043945" cy="256701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Presentation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object 20"/>
          <p:cNvSpPr txBox="1"/>
          <p:nvPr/>
        </p:nvSpPr>
        <p:spPr>
          <a:xfrm>
            <a:off x="1702070" y="6607458"/>
            <a:ext cx="3043769" cy="233233"/>
          </a:xfrm>
          <a:prstGeom prst="rect">
            <a:avLst/>
          </a:prstGeom>
        </p:spPr>
        <p:txBody>
          <a:bodyPr vert="horz" wrap="square" lIns="0" tIns="17617" rIns="0" bIns="0" rtlCol="0">
            <a:spAutoFit/>
          </a:bodyPr>
          <a:lstStyle/>
          <a:p>
            <a:pPr marL="25168" algn="ctr" defTabSz="1812066">
              <a:spcBef>
                <a:spcPts val="139"/>
              </a:spcBef>
            </a:pPr>
            <a:r>
              <a:rPr lang="en-IN" sz="14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Dept. of  ECE, VVCE,</a:t>
            </a:r>
            <a:r>
              <a:rPr lang="en-IN" sz="1400" b="1" spc="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400" b="1" spc="-1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Mysuru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13" y="1323399"/>
            <a:ext cx="1714043" cy="157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>
          <a:xfrm>
            <a:off x="81887" y="6631409"/>
            <a:ext cx="1291073" cy="45719"/>
          </a:xfrm>
        </p:spPr>
        <p:txBody>
          <a:bodyPr/>
          <a:lstStyle/>
          <a:p>
            <a:fld id="{02E83397-3E32-4409-8D61-3207F33FC5D6}" type="datetime3">
              <a:rPr lang="en-US" smtClean="0">
                <a:solidFill>
                  <a:schemeClr val="tx1"/>
                </a:solidFill>
              </a:rPr>
              <a:t>5 May 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11626730" y="6647705"/>
            <a:ext cx="465189" cy="182999"/>
          </a:xfrm>
        </p:spPr>
        <p:txBody>
          <a:bodyPr/>
          <a:lstStyle/>
          <a:p>
            <a:pPr algn="r"/>
            <a:fld id="{D57F1E4F-1CFF-5643-939E-217C01CDF565}" type="slidenum">
              <a:rPr lang="en-US" smtClean="0">
                <a:solidFill>
                  <a:schemeClr val="tx1"/>
                </a:solidFill>
              </a:rPr>
              <a:pPr algn="r"/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object 13">
            <a:extLst>
              <a:ext uri="{FF2B5EF4-FFF2-40B4-BE49-F238E27FC236}">
                <a16:creationId xmlns:a16="http://schemas.microsoft.com/office/drawing/2014/main" id="{EFCF295E-4F69-3199-4644-53F615A46555}"/>
              </a:ext>
            </a:extLst>
          </p:cNvPr>
          <p:cNvSpPr txBox="1"/>
          <p:nvPr/>
        </p:nvSpPr>
        <p:spPr>
          <a:xfrm>
            <a:off x="7273901" y="3402768"/>
            <a:ext cx="3441193" cy="1024510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426591" marR="10067" indent="-402681" algn="ctr">
              <a:spcBef>
                <a:spcPts val="109"/>
              </a:spcBef>
            </a:pP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External Guide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26591" marR="10067" indent="-402681" algn="ctr">
              <a:spcBef>
                <a:spcPts val="109"/>
              </a:spcBef>
            </a:pPr>
            <a:r>
              <a:rPr lang="en-IN" sz="2000" b="1" spc="-10" dirty="0">
                <a:latin typeface="Times New Roman" pitchFamily="18" charset="0"/>
                <a:cs typeface="Times New Roman" pitchFamily="18" charset="0"/>
              </a:rPr>
              <a:t>CHANDHAN H P</a:t>
            </a:r>
            <a:endParaRPr lang="en-US" sz="2000" b="1" spc="-10" dirty="0">
              <a:latin typeface="Times New Roman" pitchFamily="18" charset="0"/>
              <a:cs typeface="Times New Roman" pitchFamily="18" charset="0"/>
            </a:endParaRPr>
          </a:p>
          <a:p>
            <a:pPr marL="426591" marR="10067" indent="-402681" algn="ctr">
              <a:spcBef>
                <a:spcPts val="109"/>
              </a:spcBef>
            </a:pPr>
            <a:r>
              <a:rPr lang="en-US" sz="2000" spc="-10" dirty="0" err="1">
                <a:latin typeface="Times New Roman" pitchFamily="18" charset="0"/>
                <a:cs typeface="Times New Roman" pitchFamily="18" charset="0"/>
              </a:rPr>
              <a:t>Vivartan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 Technologies</a:t>
            </a:r>
            <a:endParaRPr lang="en-IN" sz="2000" spc="-1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A logo with different symbols&#10;&#10;Description automatically generated with medium confidence">
            <a:extLst>
              <a:ext uri="{FF2B5EF4-FFF2-40B4-BE49-F238E27FC236}">
                <a16:creationId xmlns:a16="http://schemas.microsoft.com/office/drawing/2014/main" id="{AEC01ABC-A172-9367-41A6-9DA3B401FD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4498" y="1369119"/>
            <a:ext cx="1491374" cy="14727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20FE4-8494-0054-AB83-29369D510730}"/>
              </a:ext>
            </a:extLst>
          </p:cNvPr>
          <p:cNvSpPr txBox="1"/>
          <p:nvPr/>
        </p:nvSpPr>
        <p:spPr>
          <a:xfrm>
            <a:off x="3946251" y="2581222"/>
            <a:ext cx="4643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ASIC DESIGN – RTL TO GDS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109089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715" y="661523"/>
            <a:ext cx="9488161" cy="5170646"/>
          </a:xfrm>
        </p:spPr>
        <p:txBody>
          <a:bodyPr/>
          <a:lstStyle/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Company details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Mission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Task Performed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Outcomes of Internship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809347" indent="-809347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Internship Certificate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D08950D9-D5E4-4E85-B19D-9DCA65B6092F}" type="datetime3">
              <a:rPr lang="en-US" smtClean="0">
                <a:solidFill>
                  <a:schemeClr val="tx1"/>
                </a:solidFill>
              </a:rPr>
              <a:t>5 May 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algn="r"/>
            <a:fld id="{D57F1E4F-1CFF-5643-939E-217C01CDF565}" type="slidenum">
              <a:rPr lang="en-US" smtClean="0">
                <a:solidFill>
                  <a:schemeClr val="tx1"/>
                </a:solidFill>
              </a:rPr>
              <a:pPr algn="r"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75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Company details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07863" y="1329901"/>
            <a:ext cx="10590662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Vivartan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solutions to building System on Chips (SoC) which involves both Digital and Analog designs.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focus on end-to-end services for IoT, Mobile and NextGen Automobiles.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experience in all major technology nodes and fabs including latest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to 7nm. Teams have expertise in all the industry standard EDA tools.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Vivartan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tie up with engineering colleges and institutes and then deliver courses to bridge the gap between industry and the academia.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Vivartan Technologies">
            <a:extLst>
              <a:ext uri="{FF2B5EF4-FFF2-40B4-BE49-F238E27FC236}">
                <a16:creationId xmlns:a16="http://schemas.microsoft.com/office/drawing/2014/main" id="{521BEEE3-5ACE-4522-02ED-30E36A04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97" y="5386453"/>
            <a:ext cx="48768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69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812" y="706581"/>
            <a:ext cx="11526376" cy="5500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    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Vivartan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LLP.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732, 9th Cross, 5th Main, MC Layout,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Vijayanagar, Bengaluru - 560 040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no: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+91 988 671 6583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Email-address:     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vivartan.edu@gmail.com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                            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www.vivartan.com</a:t>
            </a:r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of company: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Founder: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Sunil Kumar H V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              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- 2009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sub category: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Non-govt company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services: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Digital Design, Analog and Mixed Signal,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Foundation IPs, Digital Automation.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partner: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Engineering, Mysuru.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CHRIST (Deemed to be University), Bengaluru.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23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Company Mission </a:t>
            </a:r>
            <a:endParaRPr lang="en-IN" sz="32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6729" y="1274845"/>
            <a:ext cx="9689910" cy="3076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deliver programs creating best quality, employable, industry ready professionals.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robust model bridging Industry and Academia for a conscious engineering community.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scale model to enable the growing need for employable engineers.</a:t>
            </a:r>
            <a:endParaRPr lang="en-IN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95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Company Objectives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1101" y="1055334"/>
            <a:ext cx="1014938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main objective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transform Learning space through Innovative, Holistic and Scalable methods of program design, deliver and technology at its best.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0821" y="2436757"/>
            <a:ext cx="7370618" cy="4165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50"/>
              </a:spcAft>
            </a:pPr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Main objectives of VIVARTAN:</a:t>
            </a:r>
          </a:p>
          <a:p>
            <a:pPr marL="342900" indent="-342900" algn="just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students.</a:t>
            </a:r>
          </a:p>
          <a:p>
            <a:pPr marL="342900" indent="-342900" algn="just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students and companies.</a:t>
            </a:r>
          </a:p>
          <a:p>
            <a:pPr marL="342900" indent="-342900" algn="just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 fundamentals of VLSI.</a:t>
            </a:r>
          </a:p>
          <a:p>
            <a:pPr marL="342900" indent="-342900" algn="just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industry-ready skills.</a:t>
            </a:r>
          </a:p>
          <a:p>
            <a:pPr marL="342900" indent="-342900" algn="just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quality, employable engineering professionals.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750"/>
              </a:spcAft>
            </a:pP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4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86EFA-226B-9E34-9D13-090FA4AE5C3E}"/>
              </a:ext>
            </a:extLst>
          </p:cNvPr>
          <p:cNvSpPr txBox="1"/>
          <p:nvPr/>
        </p:nvSpPr>
        <p:spPr>
          <a:xfrm>
            <a:off x="432618" y="820103"/>
            <a:ext cx="8632723" cy="217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Transfer Level(RTL)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RTL describes how data moves between registers in a circuit 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RTL is implemented using hardware description languages (HDLs) like VHDL or Verilog 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starting point of the ASIC design flow before synthesis and physical design</a:t>
            </a:r>
            <a:r>
              <a:rPr lang="en-US" dirty="0"/>
              <a:t>.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3638F-7079-D898-A030-F8A66C649785}"/>
              </a:ext>
            </a:extLst>
          </p:cNvPr>
          <p:cNvSpPr txBox="1"/>
          <p:nvPr/>
        </p:nvSpPr>
        <p:spPr>
          <a:xfrm>
            <a:off x="432618" y="3285019"/>
            <a:ext cx="6096000" cy="614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</a:t>
            </a:r>
          </a:p>
        </p:txBody>
      </p:sp>
      <p:pic>
        <p:nvPicPr>
          <p:cNvPr id="9" name="Picture 2" descr="Difference Between Serial and Parallel Communication (with Comparison  Chart) - Circuit Globe">
            <a:extLst>
              <a:ext uri="{FF2B5EF4-FFF2-40B4-BE49-F238E27FC236}">
                <a16:creationId xmlns:a16="http://schemas.microsoft.com/office/drawing/2014/main" id="{2A4988FA-5992-EF27-1CEA-5D8A5F6DA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32"/>
          <a:stretch/>
        </p:blipFill>
        <p:spPr bwMode="auto">
          <a:xfrm>
            <a:off x="758167" y="4454944"/>
            <a:ext cx="3651908" cy="165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ifference Between Serial and Parallel Communication (with Comparison  Chart) - Circuit Globe">
            <a:extLst>
              <a:ext uri="{FF2B5EF4-FFF2-40B4-BE49-F238E27FC236}">
                <a16:creationId xmlns:a16="http://schemas.microsoft.com/office/drawing/2014/main" id="{CBE38A13-255F-4DA3-032F-C519C5298F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37"/>
          <a:stretch/>
        </p:blipFill>
        <p:spPr bwMode="auto">
          <a:xfrm>
            <a:off x="5603626" y="4370379"/>
            <a:ext cx="3431458" cy="166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163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1D693-A804-FB1E-FECD-A0FAE2E7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C5CDF-D10E-88FC-30A5-0A6A1EB82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536" y="671496"/>
            <a:ext cx="11274343" cy="507831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On-Chip Protocols :-</a:t>
            </a:r>
            <a:endParaRPr lang="en-I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inside the SoC to connect processor, memory, and IP blocks.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low latency and high bandwidth.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: AXI protocol.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GB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Protocols :-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communicate with external devices connected to the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: SPI, I2C.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353E1-D1D4-54E8-D988-3310CEAAF48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8CE52-AFFF-3251-988C-D1A7F2D8DC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9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6990-1BC4-D19C-8B31-B6223A3CF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" y="778408"/>
            <a:ext cx="11526376" cy="360098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FSM (Finite State Machine) helps to control the flow of operations in a chip.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design control logic at the RTL stage.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it easy to handle sequential tasks like reading, writing.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building things like protocol controllers, ALU control unit.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3EE3-94CA-0B74-ABEE-E9A7712E5C9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D8D3B-EEF1-A541-BFFE-B96D50B644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E1BA2-E457-ACE5-3D82-4723268AC917}"/>
              </a:ext>
            </a:extLst>
          </p:cNvPr>
          <p:cNvSpPr txBox="1"/>
          <p:nvPr/>
        </p:nvSpPr>
        <p:spPr>
          <a:xfrm>
            <a:off x="163542" y="77840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F2765-C5F1-082B-4C25-AFCA966C9890}"/>
              </a:ext>
            </a:extLst>
          </p:cNvPr>
          <p:cNvSpPr txBox="1"/>
          <p:nvPr/>
        </p:nvSpPr>
        <p:spPr>
          <a:xfrm>
            <a:off x="-2255476" y="3244622"/>
            <a:ext cx="609600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445" marR="459105" indent="-6350" algn="ctr">
              <a:lnSpc>
                <a:spcPct val="107000"/>
              </a:lnSpc>
              <a:spcAft>
                <a:spcPts val="1080"/>
              </a:spcAft>
            </a:pPr>
            <a:endParaRPr lang="en-IN" sz="20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9445" marR="459105" indent="-6350" algn="ctr">
              <a:lnSpc>
                <a:spcPct val="107000"/>
              </a:lnSpc>
              <a:spcAft>
                <a:spcPts val="1080"/>
              </a:spcAft>
            </a:pPr>
            <a:r>
              <a:rPr lang="en-I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 Flow </a:t>
            </a:r>
            <a:endParaRPr lang="en-IN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EA833-7CF1-0EED-01BC-D389C05F31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3132899"/>
            <a:ext cx="4635500" cy="201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ADFD37-3E4A-0B43-4206-A937E488E287}"/>
              </a:ext>
            </a:extLst>
          </p:cNvPr>
          <p:cNvSpPr txBox="1"/>
          <p:nvPr/>
        </p:nvSpPr>
        <p:spPr>
          <a:xfrm>
            <a:off x="6674750" y="5136731"/>
            <a:ext cx="721974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445" marR="459105" indent="-6350" algn="ctr">
              <a:lnSpc>
                <a:spcPct val="107000"/>
              </a:lnSpc>
              <a:spcAft>
                <a:spcPts val="1080"/>
              </a:spcAft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ASIC Flow </a:t>
            </a:r>
            <a:endParaRPr lang="en-IN" sz="2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642B0-917F-028B-F22A-B7569B630180}"/>
              </a:ext>
            </a:extLst>
          </p:cNvPr>
          <p:cNvSpPr txBox="1"/>
          <p:nvPr/>
        </p:nvSpPr>
        <p:spPr>
          <a:xfrm>
            <a:off x="163542" y="3534041"/>
            <a:ext cx="770206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9009C2D-5C16-B579-6C9A-F045C83A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19" y="3703154"/>
            <a:ext cx="9126794" cy="2535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in RTL: Write code (Verilog/VHDL) to describe how the chip should work.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to Gates: Change the code into small building blocks.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 and Connect: Position the gates on the chip and connect them.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Timing and Power: Make sure the chip runs at the right speed and uses power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GDSII File: Finalize the chip layout for manufacturing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035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6300AD-CAE1-17DE-6AFB-9A9C3037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AD295-BBFA-2F66-28DB-27E8882E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2253" y="873760"/>
            <a:ext cx="6146800" cy="695575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Extensible Interface (AXI)</a:t>
            </a:r>
          </a:p>
          <a:p>
            <a:pPr algn="just"/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independent channels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ntroduced in 2003.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Master and Slave Configuration.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high-performance, high-frequency SoCs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Address Channel (AW) – Sends address for write.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Data Channel (W) – Sends data to be written.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Response Channel (B) – Sends write status from slave to master.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Address Channel (AR) – Sends address for read.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Data Channel (R) – Sends data from slave to master.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2B9C7-60E4-8A15-6004-F8BC6738851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FF1C-F5E8-5B04-318F-F4D09A03E8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2050" name="Picture 2" descr="Introduction to the Advanced Extensible Interface (AXI) - Technical Articles">
            <a:extLst>
              <a:ext uri="{FF2B5EF4-FFF2-40B4-BE49-F238E27FC236}">
                <a16:creationId xmlns:a16="http://schemas.microsoft.com/office/drawing/2014/main" id="{A0BE3DB7-2EAF-50FD-351A-7740F75E8C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" t="3611" r="1915" b="6315"/>
          <a:stretch/>
        </p:blipFill>
        <p:spPr bwMode="auto">
          <a:xfrm>
            <a:off x="91440" y="873760"/>
            <a:ext cx="5283199" cy="572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17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33" y="748147"/>
            <a:ext cx="11526376" cy="144655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UP-DOWN COUNTER.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of the design along with test bench.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simulator and run options.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Simulation.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4A295-4A6C-D29F-4AA2-F6BAFB27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6" y="2056400"/>
            <a:ext cx="5375935" cy="4191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BE376-10BA-9302-F2D8-7966B2B36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968" y="2056400"/>
            <a:ext cx="5375935" cy="43740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6AAA5-3DA8-C36E-320C-7F8BC46100D1}"/>
              </a:ext>
            </a:extLst>
          </p:cNvPr>
          <p:cNvSpPr txBox="1"/>
          <p:nvPr/>
        </p:nvSpPr>
        <p:spPr>
          <a:xfrm>
            <a:off x="-469688" y="-50626"/>
            <a:ext cx="609765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Task Performed</a:t>
            </a:r>
          </a:p>
        </p:txBody>
      </p:sp>
    </p:spTree>
    <p:extLst>
      <p:ext uri="{BB962C8B-B14F-4D97-AF65-F5344CB8AC3E}">
        <p14:creationId xmlns:p14="http://schemas.microsoft.com/office/powerpoint/2010/main" val="3446767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F62C3-6788-7044-99AF-D0A9413EB433}"/>
              </a:ext>
            </a:extLst>
          </p:cNvPr>
          <p:cNvSpPr txBox="1"/>
          <p:nvPr/>
        </p:nvSpPr>
        <p:spPr>
          <a:xfrm>
            <a:off x="1762759" y="4511121"/>
            <a:ext cx="866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Waveform after simulating UP-DOWN COUNTER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2F5AC-AF21-3CDF-1B76-3EB36634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7" y="931234"/>
            <a:ext cx="11425085" cy="329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8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B6A1-B7B1-764A-76AE-0AAB1D37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9B954-7F0D-62FD-A5B2-8CC6B6FA0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" y="748147"/>
            <a:ext cx="11526376" cy="144655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ALU Design.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of the design along with test bench.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simulator and run options.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Simulation.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8715-57AF-2B99-1C20-27D4B892E77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A15A3-B13E-ED6F-C138-DC1CE2DA71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62109-CA56-99F1-BB48-D60CC149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09" y="2468146"/>
            <a:ext cx="5173417" cy="3488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22412C-1DA5-8C62-B806-345FABC7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526" y="2468146"/>
            <a:ext cx="5285000" cy="37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6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3B20-D38C-AE01-1F94-4CB72863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BAC54-DC39-8C13-E2DE-676F7AFE921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D6664-FCA6-1DAF-FDDF-3E7319A48A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B851E-7532-02FA-C271-A9D7C70ED308}"/>
              </a:ext>
            </a:extLst>
          </p:cNvPr>
          <p:cNvSpPr txBox="1"/>
          <p:nvPr/>
        </p:nvSpPr>
        <p:spPr>
          <a:xfrm>
            <a:off x="2486838" y="4963633"/>
            <a:ext cx="866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Waveform after simulating ALU Design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7D23E-E5DA-C906-ADD5-F01603A9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" y="1086606"/>
            <a:ext cx="11557001" cy="36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8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470FD-CF96-B5BA-0C1A-FF459DA8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C00D1-3D02-97E8-690A-C57F34AB9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4" y="630160"/>
            <a:ext cx="11526376" cy="144655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r>
              <a:rPr lang="en-IN" sz="2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 bit shift register SISO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of the design along with test bench.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simulator and run options.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Simulation.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42341-3AFF-5D94-3C48-B8153A404E3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2668B-DF91-1813-C365-0E11136F66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813B15-7C0B-DADF-F23D-28BD690294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911" y="1901625"/>
            <a:ext cx="10185250" cy="432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9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3E73-7795-C5A2-BFA4-2F578C21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BFACD-F7AD-0E38-0A57-1C2AABE92A4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B388F-FAF0-5CAC-B25F-5DEC122D93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6E961-F650-7130-2ED0-53C0F9020B65}"/>
              </a:ext>
            </a:extLst>
          </p:cNvPr>
          <p:cNvSpPr txBox="1"/>
          <p:nvPr/>
        </p:nvSpPr>
        <p:spPr>
          <a:xfrm>
            <a:off x="2142615" y="5745677"/>
            <a:ext cx="8666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Waveform after simulating </a:t>
            </a:r>
            <a:r>
              <a:rPr lang="en-IN" sz="24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24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 bit shift register SISO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377B1-94D6-A371-4810-0C5CE6F083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4092" y="974749"/>
            <a:ext cx="10971088" cy="451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3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DAA5-4814-7D5E-5623-B71F23B8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A8FD7-C903-E2F9-90A8-134E3A313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" y="748147"/>
            <a:ext cx="11526376" cy="144655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32 Bit RAM.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of the design along with test bench.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simulator and run options.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Simulation.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145F1-55F6-D247-8C71-7A45985BD44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F3032-4B4E-2AED-EA1C-A22FC4E9C2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F0C09-7DA4-63EC-5633-AE3027574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22" y="2194697"/>
            <a:ext cx="10975486" cy="450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56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5A4E-8D29-607D-7FB2-F37F9B68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EF6F-DD8C-C936-AD0E-EBA6AADD0F4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53A53-6195-09C9-1B02-C4949454A0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A15C4-99BB-0353-5A6E-B5E732E7B779}"/>
              </a:ext>
            </a:extLst>
          </p:cNvPr>
          <p:cNvSpPr txBox="1"/>
          <p:nvPr/>
        </p:nvSpPr>
        <p:spPr>
          <a:xfrm>
            <a:off x="2986399" y="5230176"/>
            <a:ext cx="866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Waveform after simulating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Bit RAM 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AE822-843F-53FB-41FA-0BAD8866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0" y="1288027"/>
            <a:ext cx="11175318" cy="347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05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17C5-2F6E-32A6-F317-66C4F2D78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812" y="816077"/>
            <a:ext cx="11526376" cy="144655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5: AXI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code of the design along with test bench.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simulator and run options.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Step3.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Simulation.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CC749-44C0-3A0B-7EAB-F49BB1146A3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9B119-66AF-4B32-9A45-6AAB679AB3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0B4680-D81A-5C48-9EB4-5095A58C0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2361584"/>
            <a:ext cx="9468464" cy="377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0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CFB1-CF41-25E3-B804-C99EC869A13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DFCC9-027E-EBAD-250F-B3D1C37129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9205C7-1BA6-CDDD-C343-645D480C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780436"/>
            <a:ext cx="9143999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99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7EA4A-DA37-320B-14DA-86F8AEFEB26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66B2-CD6D-0DC6-69D8-1A910883DF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712374-9959-45D3-C823-A3DE27AE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18" y="855406"/>
            <a:ext cx="9937135" cy="558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58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3" y="90295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Outcomes of Internship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07596" y="1385773"/>
            <a:ext cx="1010534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Understanding of ASIC Design Flow.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GB" sz="2400" dirty="0"/>
              <a:t>Knowledge of On-Chip and Peripheral Protocols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IN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7E06C1-D4D2-D512-F01B-1CAC1DF6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96" y="2750809"/>
            <a:ext cx="9145689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knowledge of the complete process from RTL design to GDS.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design and optimize an ALU for specific processor requirements.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98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35" y="73621"/>
            <a:ext cx="11687929" cy="492443"/>
          </a:xfrm>
        </p:spPr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2A96A23-9C32-48AD-B371-DDAB105826A2}" type="datetime3">
              <a:rPr lang="en-US" smtClean="0"/>
              <a:t>5 May 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0635" y="1069469"/>
            <a:ext cx="958982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as an intern in the company provided various benefits and they are as follows: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The VLSI Internship provided me with practical knowledge of the ASIC Design Flow, including RTL Design, Verification, Synthesis, and Timing Analysis.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 gained hands-on experience with On-Chip and Peripheral Protocols, enhancing my understanding of SoC communication.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This internship significantly strengthened my technical skills in VLSI Design, preparing me to contribute effectively to the semiconductor industry.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124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5" y="-87463"/>
            <a:ext cx="7393858" cy="32725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Internship Certificate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28910127-4F43-4953-A28D-4111D692F958}" type="datetime3">
              <a:rPr lang="en-US" smtClean="0">
                <a:solidFill>
                  <a:schemeClr val="tx1"/>
                </a:solidFill>
              </a:rPr>
              <a:t>5 May 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A close-up of a letter&#10;&#10;AI-generated content may be incorrect.">
            <a:extLst>
              <a:ext uri="{FF2B5EF4-FFF2-40B4-BE49-F238E27FC236}">
                <a16:creationId xmlns:a16="http://schemas.microsoft.com/office/drawing/2014/main" id="{263E015F-00ED-841B-65BF-B8ACC6D6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3" y="835915"/>
            <a:ext cx="8249264" cy="567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68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148846-BEE5-4A66-825D-B0B864934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026" y="1031847"/>
            <a:ext cx="9093620" cy="4511180"/>
          </a:xfrm>
          <a:prstGeom prst="rect">
            <a:avLst/>
          </a:prstGeom>
        </p:spPr>
      </p:pic>
      <p:sp>
        <p:nvSpPr>
          <p:cNvPr id="11" name="Date Placeholder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96A0697-CAD3-4E76-9214-11A4E23CCC28}" type="datetime3">
              <a:rPr lang="en-US" smtClean="0">
                <a:solidFill>
                  <a:schemeClr val="tx1"/>
                </a:solidFill>
              </a:rPr>
              <a:t>5 May 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67940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4524</TotalTime>
  <Words>1106</Words>
  <Application>Microsoft Office PowerPoint</Application>
  <PresentationFormat>Widescreen</PresentationFormat>
  <Paragraphs>198</Paragraphs>
  <Slides>25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Theme3</vt:lpstr>
      <vt:lpstr>INTERNSHIP  PRESENTATION</vt:lpstr>
      <vt:lpstr>Contents</vt:lpstr>
      <vt:lpstr>Company details</vt:lpstr>
      <vt:lpstr>Company Details</vt:lpstr>
      <vt:lpstr>Company Mission </vt:lpstr>
      <vt:lpstr>Company Objectives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Outcomes of Internship</vt:lpstr>
      <vt:lpstr>Conclusion</vt:lpstr>
      <vt:lpstr>Internship Certificate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Haripriya R</cp:lastModifiedBy>
  <cp:revision>125</cp:revision>
  <dcterms:created xsi:type="dcterms:W3CDTF">2019-08-23T18:34:20Z</dcterms:created>
  <dcterms:modified xsi:type="dcterms:W3CDTF">2025-05-05T13:56:10Z</dcterms:modified>
</cp:coreProperties>
</file>